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94560"/>
            <a:ext cx="1091153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00000"/>
                </a:solidFill>
                <a:latin typeface="Arial"/>
              </a:rPr>
              <a:t>High-resolution material discrimination from remote sensing</a:t>
            </a:r>
          </a:p>
          <a:p>
            <a:pPr>
              <a:spcBef>
                <a:spcPts val="1400"/>
              </a:spcBef>
            </a:pPr>
            <a:r>
              <a:rPr sz="2000">
                <a:solidFill>
                  <a:srgbClr val="333333"/>
                </a:solidFill>
                <a:latin typeface="Arial"/>
              </a:rPr>
              <a:t>A focused state of the art for the SuperDove (8 VNIR bands, 3 m) setting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4160520"/>
            <a:ext cx="5303520" cy="0"/>
          </a:xfrm>
          <a:prstGeom prst="bentConnector3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666666"/>
                </a:solidFill>
                <a:latin typeface="Arial"/>
              </a:rPr>
              <a:t>PERIVALLON thesis · re-scoped after the 2026-06-15 advisor directive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rial"/>
              </a:rPr>
              <a:t>The question, re-scoped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325880"/>
            <a:ext cx="10911535" cy="0"/>
          </a:xfrm>
          <a:prstGeom prst="bentConnector3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41732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666666"/>
                </a:solidFill>
                <a:latin typeface="Arial"/>
              </a:rPr>
              <a:t>Not “waste from satellites” — how the literature discriminates MATERIALS at a useful resolution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Input we operate on: SuperDove — 8 VNIR bands, 3 m GSD, no SWIR.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Task we care about: identify what a surface is made of (material-level), per-pixel / per-object / per-region.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Works on other materials count — minerals, roofing, urban surfaces — because the question is material discrimination, not waste detection.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Why this matters: it places the thesis against the right comparators, instead of a broad and unfocused “waste RS” survey.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rial"/>
              </a:rPr>
              <a:t>What counts — and what we deliberately exclude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325880"/>
            <a:ext cx="10911535" cy="0"/>
          </a:xfrm>
          <a:prstGeom prst="bentConnector3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737360"/>
            <a:ext cx="1091153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A work is included only if it satisfies all three:</a:t>
            </a:r>
          </a:p>
          <a:p>
            <a:pPr lvl="1"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Arial"/>
              </a:rPr>
              <a:t>◦  Task = material discrimination (not scene classification, not binary waste/no-waste, not land-use).</a:t>
            </a:r>
          </a:p>
          <a:p>
            <a:pPr lvl="1"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Arial"/>
              </a:rPr>
              <a:t>◦  GSD ≤ ~5 m (sub-metre VHR, and the ~3 m PlanetScope / SuperDove class).</a:t>
            </a:r>
          </a:p>
          <a:p>
            <a:pPr lvl="1"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Arial"/>
              </a:rPr>
              <a:t>◦  Multispectral or hyperspectral input (≥ 4 bands).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Excluded by resolution — even with SWIR or material labels:</a:t>
            </a:r>
          </a:p>
          <a:p>
            <a:pPr lvl="1"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Arial"/>
              </a:rPr>
              <a:t>◦  Sentinel-2 (10 m), EnMAP / PRISMA / EMIT (30–60 m).</a:t>
            </a:r>
          </a:p>
          <a:p>
            <a:pPr lvl="1"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Arial"/>
              </a:rPr>
              <a:t>◦  Known, not missed: Shepherd 2025 (EnMAP asbestos), Estrela 2025 (EMIT plastic), MARIDA / MADOS — they set the SWIR upper bound at a resolution we ruled out.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rial"/>
              </a:rPr>
              <a:t>The core tension: SWIR discriminates, resolution locates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325880"/>
            <a:ext cx="10911535" cy="0"/>
          </a:xfrm>
          <a:prstGeom prst="bentConnector3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737360"/>
            <a:ext cx="1091153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Material identity is carried by SWIR features (e.g. asbestos Mg-OH at 2.31 µm, polymer C–H at ~1215 / 1730 nm).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Spatial resolution decides whether you can place those materials on the ground.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On satellites, high resolution + SWIR comes either expensive and access-limited (WorldView-3, 3.7 m SWIR) or at low resolution (EnMAP / PRISMA, 30 m).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SuperDove (8 VNIR @ 3 m, no SWIR) sits in a sparsely-studied corner — between sub-metre VHR and 10 m Sentinel-2.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Cleanest single number for what SWIR buys: Saba 2025, same asbestos task — HS 97.3% vs MS 74.4%.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666666"/>
                </a:solidFill>
                <a:latin typeface="Arial"/>
              </a:rPr>
              <a:t>Saba et al. 2025 (RSASE) · same asbestos task, hyperspectral vs multispectral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rial"/>
              </a:rPr>
              <a:t>Where everyone sits — and the cell nobody fills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325880"/>
            <a:ext cx="10911535" cy="0"/>
          </a:xfrm>
          <a:prstGeom prst="bentConnector3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737360"/>
            <a:ext cx="1091153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Across 24 verified works, only three are at once material-discrimination, ≤ 3 m, and VNIR-only like SuperDove:</a:t>
            </a:r>
          </a:p>
          <a:p>
            <a:pPr lvl="1"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◦  Saba 2026 — WV-3 VNIR, 1.24 m.</a:t>
            </a:r>
          </a:p>
          <a:p>
            <a:pPr lvl="1"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◦  Widipaminto 2021 — Pléiades, 2 m.</a:t>
            </a:r>
          </a:p>
          <a:p>
            <a:pPr lvl="1"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◦  Xu 2022 — UAV, cm-scale.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All three are finer than 3 m. Every strong polymer- or mineral-identity result has SWIR.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No work sits at our exact operating point: 3 m, 8-band VNIR, no SWIR.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That empty cell is the thesis.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rial"/>
              </a:rPr>
              <a:t>Plastics &amp; polymers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325880"/>
            <a:ext cx="10911535" cy="0"/>
          </a:xfrm>
          <a:prstGeom prst="bentConnector3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3736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468880"/>
                <a:gridCol w="2194560"/>
                <a:gridCol w="32004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Work (year)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Platform / GSD · SWIR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Task / method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Headline metric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Aguilar 2025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WV-3 / 3.7 m · SWIR ✓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matched-filter, 5 polymers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precision 92.5%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Zhou 2021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WV-3 / 3.7 m · SWIR ✓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pixel class., 3 polymers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OA &gt; 80%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Alboody 2023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aquatic drone / cm · SWIR ✓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supervised, up to 10 polymers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OA ≈ 89%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Agronomy 2026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UAV / cm · VNIR ✗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seg: mulch / soil / cotton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mIoU 85.9% &gt; RGB 83.4%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206240"/>
            <a:ext cx="1091153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 Takeaway: polymer-TYPE identity needs bands beyond 1000 nm (SWIR).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 But VNIR alone still separates plastic presence/extent and beats RGB (Agronomy 2026).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00000"/>
                </a:solidFill>
                <a:latin typeface="Arial"/>
              </a:rPr>
              <a:t>•  For SuperDove: plausible for plastic presence, not for polymer identity.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rial"/>
              </a:rPr>
              <a:t>Asbestos-cement &amp; roofing — closest to the Phase-1 pilot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325880"/>
            <a:ext cx="10911535" cy="0"/>
          </a:xfrm>
          <a:prstGeom prst="bentConnector3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881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468880"/>
                <a:gridCol w="2194560"/>
                <a:gridCol w="32004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Work (year)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Platform / GSD · SWIR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Task / method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Headline metric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Bonifazi 2026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WV-3 / 1.24 m + SWIR ✓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Py6S + MLC, building-level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F1 0.87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Cartagena 2024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airborne HySpex / 0.8 m · SWIR ✓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SAM, AC vs clay vs steel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OA 96%, AC 98%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Saba 2026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WV-3 / 1.24 m · VNIR ✗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32 classifiers, multiclass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Macro-F1 97.6%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Saba 2025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WV-3 MS + airborne HS · ✗/✓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MS vs HS comparison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HS 97.3% vs MS 74.4%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Widipaminto 2021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Pléiades / 2 m · VNIR ✗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SVM, 5 roof materials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OA 92.9%, κ 0.91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Raczko 2022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airborne ortho / 25 cm · VNIR ✗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CNN, AC binary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OA 88–93%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•  The VNIR/RGB line is now strong and quantified — best external evidence the VNIR-only pilot is viable.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•  Two caveats: all operate at 0.25–2 m (12–25× finer than 3 m); Saba 2025 quantifies the VNIR penalty (~23 pts).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rial"/>
              </a:rPr>
              <a:t>Inert / C&amp;D waste &amp; minerals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325880"/>
            <a:ext cx="10911535" cy="0"/>
          </a:xfrm>
          <a:prstGeom prst="bentConnector3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3736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468880"/>
                <a:gridCol w="2194560"/>
                <a:gridCol w="32004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Work (year)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Platform / GSD · SWIR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Task / method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Headline metric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Xu 2022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UAV / cm · VNIR ✗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decision tree, 4 C&amp;D classes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OA 85.9%, κ 0.85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Vitek/Krauz 2025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close-range / lab · RGB+narrow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band selection for C&amp;D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RGB + 2 bands ≈ 768-band HSI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Karimzadeh 2021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WV-3 / 1.2 m + SWIR ✓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SVM, lithologies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OA 88.4% (top band = SWIR-7)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Wang 2022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airborne HySpex / 1 m · SWIR ✓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RF, 7 alteration minerals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OA 73.1%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206240"/>
            <a:ext cx="1091153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•  Xu 2022 is the closest sensor-analogue: VNIR-only inert/C&amp;D, OA 85.9% with a simple tree.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•  “Which bands, not how many” (Vitek/Krauz) is the strongest enabler for 8 VNIR bands.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•  The Chinese mineral cluster (Wang / Huang / Huaniushan) is real — but airborne HSI + SWIR, none at 3 m VNIR-only, none on waste/asbestos. The gap survives the advisor’s check.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rial"/>
              </a:rPr>
              <a:t>Metals &amp; urban materials — confusers &amp; baselines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325880"/>
            <a:ext cx="10911535" cy="0"/>
          </a:xfrm>
          <a:prstGeom prst="bentConnector3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3736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468880"/>
                <a:gridCol w="2194560"/>
                <a:gridCol w="32004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Work (year)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Platform / GSD · SWIR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Task / method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Headline metric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Ma 2023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airborne CASI / 2.5 m · VNIR ✗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3D-CNN, 15 urban classes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OA 96.3%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Banolia 2022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airborne HSI / 1.3–2 m · VNIR ✗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rule-based metal-roof detection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OA 99% (F1 0.44, GT noise)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MCubeS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close-range / cm · RGB+NIR+pol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20-class material seg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NIR+pol adds +2.7–8.7% mIoU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Toulouse 2024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airborne / 1 m · SWIR ✓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32 urban-material classes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</a:rPr>
                        <a:t>public benchmark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206240"/>
            <a:ext cx="1091153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•  Metal’s high-reflectance, flat-spectrum cue survives in VNIR (Banolia) — metal sheeting is a common waste/roof confuser.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•  Ma 2023: a VNIR 3D-CNN reaches OA 96% at 2.5 m — a direct methodological analogue for a 3 m SuperDove CNN baseline.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rial"/>
              </a:rPr>
              <a:t>Foundation models at high resolution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325880"/>
            <a:ext cx="10911535" cy="0"/>
          </a:xfrm>
          <a:prstGeom prst="bentConnector3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41732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666666"/>
                </a:solidFill>
                <a:latin typeface="Arial"/>
              </a:rPr>
              <a:t>The honest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91153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DOFA (Xiong 2024, preprint) conditions on wavelength only, not on GSD.</a:t>
            </a:r>
          </a:p>
          <a:p>
            <a:pPr lvl="1"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Arial"/>
              </a:rPr>
              <a:t>◦  Closes the band-mismatch gap — SuperDove’s 8 VNIR centres are accepted natively.</a:t>
            </a:r>
          </a:p>
          <a:p>
            <a:pPr lvl="1"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Arial"/>
              </a:rPr>
              <a:t>◦  Does not close the GSD / object-scale gap — that stays an open, measurable question.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PANGAEA (Marsocci 2024): geo-FMs do not consistently beat supervised baselines, incl. high-res — the strongest skeptic-supporting citation.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Testable mitigations: Scale-MAE (GSD-aware), DEFLECT (RGB→MS PEFT), two-branch RGB+MS fusion.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Verdict: treat FM adaptation as a bounded side test; the band-ablation on a tuned supervised baseline is the defensible core.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rial"/>
              </a:rPr>
              <a:t>Cross-cutting synthesis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325880"/>
            <a:ext cx="10911535" cy="0"/>
          </a:xfrm>
          <a:prstGeom prst="bentConnector3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737360"/>
            <a:ext cx="1091153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SWIR is the discriminator; resolution is the locator. Cleanest number: Saba 2025, HS 97.3% vs MS 74.4%.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VNIR-only at high resolution genuinely works — asbestos, inert/C&amp;D, urban, plastic-presence. It fails for polymer identity.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It is “which bands, not how many” (Vitek/Krauz: RGB + 2 bands ≈ 768-band HSI).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The catch is GSD, not bands: almost every VNIR success is at 0.25–2.5 m, none at 3 m.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The Chinese literature does not pre-empt us — it is airborne HSI + SWIR mineral mapping.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Arial"/>
              </a:rPr>
              <a:t>•  3 m VNIR-only is the frontier, not the comfort zone — the thesis’s contribution space.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rial"/>
              </a:rPr>
              <a:t>Where the thesis sits &amp; the test that matters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325880"/>
            <a:ext cx="10911535" cy="0"/>
          </a:xfrm>
          <a:prstGeom prst="bentConnector3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737360"/>
            <a:ext cx="1091153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Setting: SuperDove, 8 VNIR bands, 3 m, no SWIR — between sub-metre VHR and 10 m Sentinel-2, essentially unstudied.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The gap: no high-res material-discrimination study operates at exactly VNIR-only 3 m; the closest precedents are all finer.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Arial"/>
              </a:rPr>
              <a:t>•  The test that matters: how much of the SWIR/VHR material-discrimination performance can VNIR-only 3 m recover?</a:t>
            </a:r>
          </a:p>
          <a:p>
            <a:pPr lvl="1"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◦  Quantified by the band ablation (RGB → +NIR → +RedEdge → 8 bands), benchmarked against the VNIR competitors above.</a:t>
            </a:r>
          </a:p>
          <a:p>
            <a:pPr lvl="1"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◦  Most honest yardstick for what SWIR buys: Saba 2025, 97.3% (HS) vs 74.4% (MS) on the asbestos task.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