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800" b="1" i="0">
                <a:solidFill>
                  <a:srgbClr val="1F6F6F"/>
                </a:solidFill>
                <a:latin typeface="Calibri"/>
              </a:rPr>
              <a:t>Multispectral satellite imagery for illegal waste material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0" i="1">
                <a:solidFill>
                  <a:srgbClr val="E07A3F"/>
                </a:solidFill>
                <a:latin typeface="Calibri"/>
              </a:rPr>
              <a:t>State of the art and thesis direction — WorldView-3 + Pléiades Neo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0">
                <a:solidFill>
                  <a:srgbClr val="888888"/>
                </a:solidFill>
                <a:latin typeface="Calibri"/>
              </a:rPr>
              <a:t>Alessandro Potenza · M.Sc. Computer Science &amp; Engineering (AI) · Politecnico di Milano · PERIVALLON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problem: from detection to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Illegal waste dumps: a hidden, widespread environmental 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1">
                <a:solidFill>
                  <a:srgbClr val="E07A3F"/>
                </a:solidFill>
                <a:latin typeface="Calibri"/>
              </a:rPr>
              <a:t>Define: EO = Earth Observation · MS = multispectral · GSD = ground sampling distance · VNIR/SWIR = visible-near / short-wave infrared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Lombardy and Italy face thousands of unauthorised dumping sites — many never reported, only stumbled upon.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ARPA (the regional environmental agency) must find them and decide where to send a limited number of inspectors first.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The operational question is not only “where is the waste?” but “how dangerous is it?” — classify by risk, not merely detect.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Inspector time is the scarce resource; without ranking, agencies inspect blindly.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Framing: Fraternali et al. 2024 (PoliMi survey, arXiv:2402.09066)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Not all waste is equal: risk = hazard × exposure ×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The danger is material-bound: inert rubble vs plastics vs asbestos-cement are worlds apart.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“Material” carries the hazard; the European Waste Catalogue (EWC) flags hazardous codes with “*” — asbestos = 17 06 05*.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Priority risk = hazard (material) × exposure (who/what is nearby) × magnitude (how much).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So material identification is the missing decision variable, not just site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EWC List of Waste (Dec. 2000/532/EC) · Indice di Degrado d.d.g. 13237/2008 · Fazzo et al.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sk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06145"/>
            <a:ext cx="11247120" cy="47713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Computer vision reframed as decision support · EWC 2000/532/EC · Indice di Degrado d.d.g. 13237/2008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•  What is the added value of multispectral (MS) data, vs RGB only, for waste MATERIAL classification from satellite imagery?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800">
                <a:solidFill>
                  <a:srgbClr val="888888"/>
                </a:solidFill>
                <a:latin typeface="Calibri"/>
              </a:rPr>
              <a:t>    – Measured, not assumed — and explicitly bounded: where does multiband help, and where does it stop?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800">
                <a:solidFill>
                  <a:srgbClr val="888888"/>
                </a:solidFill>
                <a:latin typeface="Calibri"/>
              </a:rPr>
              <a:t>    – Two confirmed very-high-resolution sensors: WorldView-3 (with SWIR) and Pléiades Neo (VNIR-only).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The core scientific bet of the thesis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Why ordinary RGB is not enough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Today’s paradigm: RGB deep learning detects sites, not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Pipeline: VHR RGB tile → CNN/Transformer backbone → EO pretraining → two-step fine-tune → binary waste / no-waste.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Strong within the geographic context it was trained on: Gibellini et al. 2025 — F1 92.0 %, Acc 94.6 % (20 cm, Swin-T + RSP).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But three limits motivate the spectrum: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classifies presence, not material;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tied to colour only (3 broad bands);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generalizzazione collapses cross-region (−5.1 % F1: GR 85.5 / SE 83.8 / RO 91.5) and cross-sensor.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Gibellini et al. 2025 (Waste Mgmt Bull., arXiv:2502.06607) · Fraternali et al.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A satellite pixel is a spectrum, not just a colour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Each pixel is a vector of reflectance values — the material’s spectral signature.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RGB: 3 broad visible bands (colour only).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MS (multispectral): 4–15 chosen bands. WorldView-3 records 8 VNIR + 8 SWIR; Pléiades Neo 6 VNIR.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HSI (hyperspectral): hundreds of contiguous narrow bands (e.g. EnMAP 230, splib07a 2,151 channels @ 350–2500 nm).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This vector is the raw input from which any classifier reasons.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Spectrum schema after USGS splib07a (Kokaly et al., 2017)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Every material has a spectral fingerprint</a:t>
            </a:r>
          </a:p>
        </p:txBody>
      </p:sp>
      <p:pic>
        <p:nvPicPr>
          <p:cNvPr id="4" name="Picture 3" descr="fingerprint_4_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10" y="1417320"/>
            <a:ext cx="100015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Reflectance curves diagnose chemistry, not just colour — USGS splib07a (Kokaly et al., 2017)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RGB fails in two distinct ways</a:t>
            </a:r>
          </a:p>
        </p:txBody>
      </p:sp>
      <p:pic>
        <p:nvPicPr>
          <p:cNvPr id="4" name="Picture 3" descr="rgb_fails_two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11682"/>
            <a:ext cx="10698480" cy="44118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Iso-chromaticity + sub-pixel mixing — Tasseron 2021 · Aguilar/Uhrin 2025 · USGS splib07a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here_info_l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3470"/>
            <a:ext cx="11247120" cy="5496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The chemistry-diagnostic clues sit in NIR and especially SWIR — USGS splib07a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sensors — what exists today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ensor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643" y="411480"/>
            <a:ext cx="6442233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Three axes, one photon budget — no satellite maximises all three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Multispectral at low / medium resolution (10–30 m): too coarse for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0" i="1">
                <a:solidFill>
                  <a:srgbClr val="E07A3F"/>
                </a:solidFill>
                <a:latin typeface="Calibri"/>
              </a:rPr>
              <a:t>Low resolution answers “where”, not “what”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554480"/>
                <a:gridCol w="1280160"/>
                <a:gridCol w="429768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Bands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GSD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SWIR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Verdict for material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Sentinel-2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10–20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20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detection only; pixels too mixed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PRISMA / EnMAP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200+ (HSI)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30 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resolves 2.3 µm triplet but 30 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Landsat 8/9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30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regional context only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Kikaki 2022 · Magyar 2023 · Shepherd 2025 · Sun 2023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Low / medium resolution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MARIDA (Kikaki 2022): marine debris confused with natural organic matter where pixels mix.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Global dumpsites (Sun 2023, Sentinel-2): 763 dumpsite LOCATIONS across 28 cities (sensitivity 98 %, precision 70 %) — but material identity stays out of reach; mapping in 6 days vs 6 months manual.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Tisza (Magyar 2023): change detection works; per-tile post-processing still needed.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Takeaway: low-res localises sites; it cannot tell what they are made of. → we need VHR.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Kikaki 2022 PLOS ONE · Sun 2023 Nat. Commun. 14 · Magyar 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ec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9101"/>
            <a:ext cx="11247120" cy="5625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Both sub-metre VHR · free via ESA Third-Party Missions (~9-week proposal lead)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Honest caveat: resolution is split between texture and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Spectra sampled coarsely: VNIR ~1.24 m, SWIR ~3.7 m (~14 m² pixels — no pure pixels over a dump).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Pan gives fine texture ~0.3 m but no material info alone.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 small dump is easier to SEE (texture) than to chemically IDENTIFY (spectra).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SWIR-8 bottleneck: asbestos 2.32 + concrete 2.34 + plastic 2.31 crowd one band.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Honest: at 3.7 m + atmosphere, R3 may ≈ R2 — itself a valid finding.</a:t>
            </a:r>
          </a:p>
        </p:txBody>
      </p:sp>
      <p:pic>
        <p:nvPicPr>
          <p:cNvPr id="5" name="Picture 4" descr="swir8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84637"/>
            <a:ext cx="7040880" cy="3620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USGS splib07a · WV-3 SWIR band centres (Maxar)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added value is real — precedents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Spectral added value, measured: Aguilar 2021 on WorldView-3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WV-3 greenhouse-plastic ablation, OBIA + Decision Tree, 10-fold CV.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Overall Accuracy: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    – VNIR only → 90.85 %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    – SWIR only → 96.79 %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300">
                <a:solidFill>
                  <a:srgbClr val="888888"/>
                </a:solidFill>
                <a:latin typeface="Calibri"/>
              </a:rPr>
              <a:t>    – All 16 bands → 97.38 %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SWIR carries the single largest jump (+6.5 pp over VNIR).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Most-cited direct benchmark for waste-like material classification.</a:t>
            </a:r>
          </a:p>
        </p:txBody>
      </p:sp>
      <p:pic>
        <p:nvPicPr>
          <p:cNvPr id="5" name="Picture 4" descr="aguila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66054"/>
            <a:ext cx="7040880" cy="44574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Aguilar, Jiménez-Lao &amp; Aguilar 2021, Remote Sensing 13(11):2133 — κ 0.812/0.932/0.944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More bands ≠ more — well-chosen few suffice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Aguilar 2021 (WV-3 plastic): VNIR 90.85 → All 97.38 — SWIR carries the jump.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Vitek 2025 (C&amp;D waste): RGB + 2 narrowbands ≈ HSI 768 bands.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Zhou 2021 (WV-3 plastic): 8 SWIR bands separate 3 polymer clusters.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What matters is WHICH bands, not how many.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WV-3 gives us SWIR; Pléiades Neo (VNIR-only) measures how far we get without it.</a:t>
            </a:r>
          </a:p>
        </p:txBody>
      </p:sp>
      <p:pic>
        <p:nvPicPr>
          <p:cNvPr id="5" name="Picture 4" descr="bands_plate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01115"/>
            <a:ext cx="7040880" cy="35872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Vitek et al. 2025 (CTU Prague) · Aguilar et al. 2021 · Zhou et al. 2021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Asbestos precedents — direct comparison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Saba 2026 (WV-3 VNIR, 8 bands): 32 classifiers tested; Fine-KNN Macro-F1 97.6 % — strong VNIR-only upper bound to beat. [paywalled, single-source]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Bonifazi 2026 (WV-3, 16 bands, MLC): asbestos-cement roofs F1 0.87 (P 0.81 / R 0.92); 25,319 buildings processed; multi-temporal monitoring.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Shepherd 2025 (EnMAP, 230 bands @ 30 m): ACE classifier 91.4 % OA / κ 0.87 / F1 91.2 %; 86 % field match — but urban mixed pixels (rubble, paint) mimic asbestos.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Together: VNIR can detect AC; SWIR + hyperspectral add robustness on clean/ambiguous roofs.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Saba 2026 J. Hazard. Mater. · Bonifazi 2026 Geomatics 6(3):41 · Shepherd 2025 Sci. Rep.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Waste-dump precedents at VHR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CascadeDumpNet (Zhang &amp; Ma 2024, Pléiades 0.5 m): open-dumpsite detection, 84.6 % mAP; transfers Shenzhen → Shanghai/Guangzhou.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AerialWaste (Torres 2023): 11,700+ RGB tiles, 22 material categories — but only 11 images contain presumed asbestos; RGB, object-level.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Aguilar 2025 (WV-3 SWIR macroplastics): precision 92.5 %, lab-to-satellite r = 0.95; targets 80–150 m² aggregations.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VHR detection is solved on RGB; material/hazard identification is the open frontier.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Zhang &amp; Ma 2024 RSE · Torres 2023 Sci. Data · Aguilar 2025 Env. Monit. Assess.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d_materia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97" y="411480"/>
            <a:ext cx="10282726" cy="5760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Pléiades Neo reaches up to NIR; WorldView-3 adds the SWIR chemistry — USGS splib07a · Aguilar · Cilia 2015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Method — a fair backbone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Foundation models for Earth Observation: a new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2024–2025: a wave of pretrained EO backbones (Prithvi, SpectralGPT, SoftCon, AnySat, DOFA…).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Most are pretrained at 10–30 m on Sentinel-2 / HLS — naïve transfer to ~1.2 m VHR is not guaranteed.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Two routes forward: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sensor-agnostic models (DOFA, AnySat) accept arbitrary band sets;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parameter-efficient adapters (DEFLECT) freeze the backbone, add &lt; 1 % params.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Open question: does 10–30 m pretraining transfer to VHR? — empirical.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FM-RS survey 2024 · Xiong 2024 · Astruc 2024 (AnySat) · Thoreau 2025 (DEFLECT) · Szwarcman 2024 (Prithvi-EO-2.0)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fa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80329"/>
            <a:ext cx="11247120" cy="50230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Xiong et al. 2024 (arXiv:2403.15356) — pretrained on 5 modalities (8M samples), handles up to 202 bands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gap &amp; the proposed direction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Gaps in the literature — and the test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No public VHR dataset pairs waste sites with MATERIAL labels; no peer-reviewed Pléiades-Neo material benchmark exists.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RGB pipelines conflate iso-colour, chemically distinct materials.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No pipeline goes from spectra to a regulatory hazard class (material → EWC → risk tier).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The object-vs-material split is unaddressed; generalizzazione (cross-region / sensor / time) is rarely shown.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The test that matters: how much does multiband actually beat RGB for material — and where does it stop helping?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Gap list distilled from Fraternali et al. 2024 (arXiv:2402.09066)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blation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24720"/>
            <a:ext cx="11247120" cy="55342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Per-pixel AND full-CNN: B−A = pure chemistry gain, D−C = total MS gain · design in loop_prof_sota/04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lization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62826"/>
            <a:ext cx="11247120" cy="52580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Report ID−OOD ΔF1 per cell — pattern EXPECTED, to be measured · cross-region −5.1 %: Gibellini 2025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From material to risk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Map predicted material → EWC hazard code → Indice di Degrado / PRAL logic × exposure × magnitude → ARPA priority tier.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Output = a ranked intervention list; every step transparent and auditable.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Indice di Degrado (ID ≤25 / 26–44 / ≥45 → action windows) is NOT in the public WFS → estimated remotely (SWIR Mg-OH depth + VNIR weathering) = a thesis contribution.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Exposure grounded in Fazzo et al. (residential-proximity mesothelioma risk); magnitude from roof/site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EWC 17 06 05* · Indice di Degrado d.d.g. 13237/2008 · Fazzo et al. 2023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ilo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8870"/>
            <a:ext cx="11247120" cy="54259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Public pixel-accurate labels + textbook SWIR diagnostic (Mg-OH 2.30–2.33 µm) — de-risks the whole pipeline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Why this matters — and what is genuinely novel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First to MEASURE RGB vs VNIR vs SWIR added value for waste material at VHR.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First WorldView-3 vs Pléiades Neo head-to-head for this task (SWIR vs VNIR-only).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First to connect spectra → EWC hazard → ARPA risk tier — confidence-aware (reports where MS helps and where it doesn’t, incl. generalizzazione).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Payoff: a transferable, free-data decision-support tool for environmental agencies.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Contributions map one-to-one onto the literature gaps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What to confirm with Thomas — decision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Data: trigger the ESA TPM proposal now (~9-week lead)? AOI / scene selection over Lombardia?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Risk-chain depth: full Indice di Degrado / PRAL formalization, or stop at material + EWC?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SuperDove: kept as a free wide-area screening layer, or dropped?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Ablation depth: 3 axes as designed, or trim for time?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Backbone: DOFA primary + Swin-RSP RGB reference — agreed?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AerialWaste coordinate bridge with ARPA (gates the general-waste MS ablation).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Open dependencies flagged in loop_prof_sota/00_LOOP_LOG.md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0" b="1" i="0">
                <a:solidFill>
                  <a:srgbClr val="A6CFC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Appendix — backup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Sensor comparison (full)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737360"/>
                <a:gridCol w="1371600"/>
                <a:gridCol w="1097280"/>
                <a:gridCol w="219456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VNIR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SWIR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Pan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WorldView-3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 @ 1.24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 @ 3.7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0.31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commercial / TPM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ladder incl. R3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Pléiades Neo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6 @ 1.2 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0.30 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commercial / TPM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VNIR-only cross-sensor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SuperDove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8 @ 3 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free, near-daily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wide-area screening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Sentinel-2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10–20 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 m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too coarse for material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EnMAP / PRISMA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HSI ~6.5 nm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free (proposal)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30 m — context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Specs: Maxar · Airbus · Planet · ESA · ASI · DLR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The 13 target materials: shape vs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Shape-identifiable (8 — RGB usually enough): vehicles, tanks, containers, rubble, bulky, wood, tyres, big-bags.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Chemistry-bound (5 — RGB blind, MS lives here): asbestos, plastic-type, foundry slag, sludge, scrap-metal composition.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Asbestos + plastics are ideal test beds — shape cue AND chemistry cue coexist.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Taxonomy: loop_prof_sota/09_master_cheatsheet.md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Diagnostic feature → band (memorise)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377440"/>
                <a:gridCol w="21945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Feature (µm)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WV-3 band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Pléiades Neo?</a:t>
                      </a:r>
                    </a:p>
                  </a:txBody>
                  <a:tcPr anchor="ctr" marL="73152" marR="54864" marT="18288" marB="18288">
                    <a:solidFill>
                      <a:srgbClr val="2E8B8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Asbestos (Mg-OH)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2.30–2.33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SWIR-7 (2.33)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Plastics (C-H)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1.215 / 1.73 / 2.31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S1, S4, S8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Concrete / C&amp;D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2.34 / 2.20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S8 / S6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Slag / rust (Fe-oxide)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0.87–0.95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NIR1 / NIR2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weak</a:t>
                      </a:r>
                    </a:p>
                  </a:txBody>
                  <a:tcPr anchor="ctr" marL="73152" marR="54864" marT="18288" marB="18288">
                    <a:solidFill>
                      <a:srgbClr val="EFF6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AC weathering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0.68 + 0.74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Red + RedEdge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USGS splib07a · Aguilar 2021/2025 · Cilia 2015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Honesty guardrails &amp; claims to handle with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Multiband value is measured, not assumed — and bounded (SWIR earns its keep on chemistry; detection may need little beyond RGB).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Spectra at 1.24 m / 3.7 m vs pan 0.3 m = texture, not chemistry; SWIR carries chemistry but Pléiades Neo has none.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Unmixing is out of scope (it sets the ceiling). “generalizzazione”, not “OOD”.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600">
                <a:solidFill>
                  <a:srgbClr val="888888"/>
                </a:solidFill>
                <a:latin typeface="Calibri"/>
              </a:rPr>
              <a:t>    – Downgraded / do-not-quote: Aguilar “+14 % κ” (use OA only); Saba “HS 97.3 vs MS 74.4” (paywalled); chrysotile “~5 nm” (it is tens of nm).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loop_prof_sota/09_master_cheatsheet.md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600" b="1" i="0">
                <a:solidFill>
                  <a:srgbClr val="1F6F6F"/>
                </a:solidFill>
                <a:latin typeface="Calibri"/>
              </a:rPr>
              <a:t>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Gibellini et al. 2025 — DL waste pipeline (Swin-T+RSP baseline). Waste Mgmt Bull.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Fraternali et al. 2024 — waste RS survey / gap analysis. arXiv:2402.09066.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Aguilar et al. 2021 — WV-3 VNIR+SWIR ablation. Remote Sensing 13(11):2133.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Xiong et al. 2024 — DOFA band-agnostic foundation model. arXiv:2403.15356.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Bonifazi 2026 (Geomatics) · Saba 2026 (J. Hazard. Mater.) · Shepherd 2025 (Sci. Rep.) — asbestos.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Zhang &amp; Ma 2024 — CascadeDumpNet (Pléiades). RSE. · Kokaly et al. 2017 — USGS splib07a.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Full annotated bibliography: docs/02_research/loop_prof_sota/11_references.md + references.bib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1">
                <a:solidFill>
                  <a:srgbClr val="888888"/>
                </a:solidFill>
                <a:latin typeface="Calibri"/>
              </a:rPr>
              <a:t>Politecnico di Milano · PERIVALLON Horizon Europe (Grant 101073952)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