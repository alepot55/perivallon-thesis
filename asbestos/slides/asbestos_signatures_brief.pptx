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74519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00" b="0">
                <a:solidFill>
                  <a:srgbClr val="777777"/>
                </a:solidFill>
                <a:latin typeface="Helvetica"/>
              </a:defRPr>
            </a:pPr>
            <a:r>
              <a:t>PERIVALLON · ASBESTOS PILOT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2331720"/>
            <a:ext cx="2011680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51460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200" b="1">
                <a:solidFill>
                  <a:srgbClr val="111111"/>
                </a:solidFill>
                <a:latin typeface="Helvetica"/>
              </a:defRPr>
            </a:pPr>
            <a:r>
              <a:t>Asbestos roofs: first real spectral signatures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3200" b="1">
                <a:solidFill>
                  <a:srgbClr val="111111"/>
                </a:solidFill>
                <a:latin typeface="Helvetica"/>
              </a:defRPr>
            </a:pPr>
            <a:r>
              <a:t>from SuperDove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500" b="0">
                <a:solidFill>
                  <a:srgbClr val="777777"/>
                </a:solidFill>
                <a:latin typeface="Helvetica"/>
              </a:defRPr>
            </a:pPr>
            <a:r>
              <a:t>Regional asbestos ground truth (Mappatura 2020) × Planet PSScene 8-band, 12 May 2026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500" b="0">
                <a:solidFill>
                  <a:srgbClr val="777777"/>
                </a:solidFill>
                <a:latin typeface="Helvetica"/>
              </a:defRPr>
            </a:pPr>
            <a:r>
              <a:t>Alessandro Potenza — 12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11111"/>
                </a:solidFill>
                <a:latin typeface="Helvetica"/>
              </a:defRPr>
            </a:pPr>
            <a:r>
              <a:t>The PSScene strips cover 1,096 mapped roofs — 966 usable signatures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78992"/>
            <a:ext cx="10911535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65" y="1371600"/>
            <a:ext cx="10375764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Ground truth: Regione Lombardia “Mappatura 2020”, 10.9k roofs · usable = ≥ 150 m², ≥ 5 clear pixels · Brescia province (Manerbio, Leno, Bagnolo Mella) · 5 strips, single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11111"/>
                </a:solidFill>
                <a:latin typeface="Helvetica"/>
              </a:defRPr>
            </a:pPr>
            <a:r>
              <a:t>Extraction pipeline: from GT polygons to one signature per roof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78992"/>
            <a:ext cx="10911535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777777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111111"/>
                </a:solidFill>
                <a:latin typeface="Helvetica"/>
              </a:defRPr>
            </a:pPr>
            <a:r>
              <a:t>GT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7985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111111"/>
                </a:solidFill>
                <a:latin typeface="Helvetica"/>
              </a:defRPr>
            </a:pPr>
            <a:r>
              <a:t>Mappatura 2020 census (most recent regional mapping), area ≥ 150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219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777777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219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111111"/>
                </a:solidFill>
                <a:latin typeface="Helvetica"/>
              </a:defRPr>
            </a:pPr>
            <a:r>
              <a:t>Edge erosion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21992"/>
            <a:ext cx="7985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111111"/>
                </a:solidFill>
                <a:latin typeface="Helvetica"/>
              </a:defRPr>
            </a:pPr>
            <a:r>
              <a:t>polygon buffered −3 m inward: at 3 m GSD this removes mixed roof/ground border pixels, keeping pure roof pixels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777777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26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111111"/>
                </a:solidFill>
                <a:latin typeface="Helvetica"/>
              </a:defRPr>
            </a:pPr>
            <a:r>
              <a:t>Pixel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26664"/>
            <a:ext cx="7985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111111"/>
                </a:solidFill>
                <a:latin typeface="Helvetica"/>
              </a:defRPr>
            </a:pPr>
            <a:r>
              <a:t>Planet udm2 clear mask; a roof needs ≥ 5 valid pixels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313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777777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313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111111"/>
                </a:solidFill>
                <a:latin typeface="Helvetica"/>
              </a:defRPr>
            </a:pPr>
            <a: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831336"/>
            <a:ext cx="7985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111111"/>
                </a:solidFill>
                <a:latin typeface="Helvetica"/>
              </a:defRPr>
            </a:pPr>
            <a:r>
              <a:t>per-band median of surface reflectance — 8 SuperDove bands (Coastal Blue → NIR); overlapping strips → keep the observation with more clear pixels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36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777777"/>
                </a:solidFill>
                <a:latin typeface="Helvetic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36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111111"/>
                </a:solidFill>
                <a:latin typeface="Helvetica"/>
              </a:defRPr>
            </a:pPr>
            <a:r>
              <a:t>Vegetation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36008"/>
            <a:ext cx="7985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111111"/>
                </a:solidFill>
                <a:latin typeface="Helvetica"/>
              </a:defRPr>
            </a:pPr>
            <a:r>
              <a:t>NDVI &lt; 0.2 mineral (bare roof) · NDVI ≥ 0.3 vegetated (likely remediated or overgrown since the 2020 mapping)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777777"/>
                </a:solidFill>
                <a:latin typeface="Helvetica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111111"/>
                </a:solidFill>
                <a:latin typeface="Helvetica"/>
              </a:defRPr>
            </a:pPr>
            <a:r>
              <a:t>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440680"/>
            <a:ext cx="7985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111111"/>
                </a:solidFill>
                <a:latin typeface="Helvetica"/>
              </a:defRPr>
            </a:pPr>
            <a:r>
              <a:t>SAM — angle between signatures as vectors: compares spectral shape, ignores overall brightness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8251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966 of 1,096 covered roofs pass all filters · surface reflectance, scale 10⁻⁴.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382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11111"/>
                </a:solidFill>
                <a:latin typeface="Helvetica"/>
              </a:defRPr>
            </a:pPr>
            <a:r>
              <a:t>Extraction check on the imagery: GT outlines match the buildings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78992"/>
            <a:ext cx="10911535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2877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Planet RGB, 3 m, GT outline in yellow · row 1: largest mineral roofs — industrial sheds, classic asbestos-cement · row 2: roofs flagged as vegetated by NDVI.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11111"/>
                </a:solidFill>
                <a:latin typeface="Helvetica"/>
              </a:defRPr>
            </a:pPr>
            <a:r>
              <a:t>Bare roofs match the lab reference — NDVI flags likely-remediated roofs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78992"/>
            <a:ext cx="10911535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4485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GT is from 2020, image from 2026: the vegetated subset (red-edge shape) marks roofs likely remediated or overgrown in between · mineral subset SAM 6.6° vs USGS asbestos-cement model resampled to the 8 SuperDove bands.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11111"/>
                </a:solidFill>
                <a:latin typeface="Helvetica"/>
              </a:defRPr>
            </a:pPr>
            <a:r>
              <a:t>Why SWIR matters: only asbestos-cement shows the 2.31 µm Mg-OH feature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78992"/>
            <a:ext cx="10911535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band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08" y="1371600"/>
            <a:ext cx="10592678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Continuum-removed band depth, USGS splib07a; asbestos-cement modelled as chrysotile–concrete mix (Cilia 2015) · the feature grows with weathering — measurable by WV-3 S8, washed out by Sentinel-2 B12 (FWHM 175 nm), invisible to SuperDove.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82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11111"/>
                </a:solidFill>
                <a:latin typeface="Helvetica"/>
              </a:defRPr>
            </a:pPr>
            <a:r>
              <a:t>What the VNIR bands can and cannot do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78992"/>
            <a:ext cx="10911535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11111"/>
                </a:solidFill>
                <a:latin typeface="Helvetica"/>
              </a:defRPr>
            </a:pPr>
            <a:r>
              <a:t>Asbestos-cement vs terracotta: separable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Helvetica"/>
              </a:defRPr>
            </a:pPr>
            <a:r>
              <a:t>SAM 21.6° on SuperDove bands — the common Lombardy roof is not a confuser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1576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11111"/>
                </a:solidFill>
                <a:latin typeface="Helvetica"/>
              </a:defRPr>
            </a:pPr>
            <a:r>
              <a:t>Asbestos-cement vs bare concrete: not separable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9815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Helvetica"/>
              </a:defRPr>
            </a:pPr>
            <a:r>
              <a:t>SAM ~4° on every band set — the hard confuser stays hard in VNIR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31335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11111"/>
                </a:solidFill>
                <a:latin typeface="Helvetica"/>
              </a:defRPr>
            </a:pPr>
            <a:r>
              <a:t>The diagnostic feature lives in the SWIR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15383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Helvetica"/>
              </a:defRPr>
            </a:pPr>
            <a:r>
              <a:t>Mg-OH absorption at 2.31 µm: needs WV-3; out of reach for SuperDove and Sentinel-2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46903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11111"/>
                </a:solidFill>
                <a:latin typeface="Helvetica"/>
              </a:defRPr>
            </a:pPr>
            <a: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30951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777777"/>
                </a:solidFill>
                <a:latin typeface="Helvetica"/>
              </a:defRPr>
            </a:pPr>
            <a:r>
              <a:t>extend the extraction to more covered roofs and validate the SWIR feature on the project WV-3 scenes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82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777777"/>
                </a:solidFill>
                <a:latin typeface="Helvetic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