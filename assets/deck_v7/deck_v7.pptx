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Classification of waste materials in very-high-resolution satellite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1">
                <a:solidFill>
                  <a:srgbClr val="666666"/>
                </a:solidFill>
                <a:latin typeface="Calibri"/>
              </a:rPr>
              <a:t>State of the art and thesis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Alessandro Potenza  ·  M.Sc. Computer Science and Engineering, AI  ·  PERIVALLON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Illegal waste dumping is an environmental crime with direct public-health consequences.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Environmental agencies (ARPA) have limited inspection capacity. Intervention priority depends on what is dumped: inert rubble, plastics and asbestos-cement imply very different hazards.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Automatic detection of dump sites from aerial and satellite images is mature. Recognising the material is not: the reference survey lists 50 works from 1987 to 2023, almost all RGB, and marks material identification as an open problem.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Within PERIVALLON, one thesis in the group has addressed material classification directly (Alari 2024). This work starts from there.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Fraternali et al. 2024, survey (arXiv:2402.09066)  ·  Alari 2024, M.Sc. thesis PoliMi (10589/230633)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Task: multi-label classification of waste materials in satellite images, at image level.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Input: very-high-resolution optical imagery, GSD 0.2 to 1.3 m: aerial RGB for the baseline (AerialWaste), satellite VNIR for the multispectral arm. Bands: RGB and VNIR (up to 8). SWIR is excluded: not part of the planned acquisitions, and its 3.7 m GSD does not match the sub-metre task. Sentinel-2 (10-20 m) is excluded: too coarse.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Output: the set of materials present in each image, from a fixed list of categories.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Technique: classification, not object detection or segmentation. The available annotations are image-level (Alari 2024: over 11,400 multi-label annotations). Waste piles have no stable shape for boxes, and no segmentation masks exist for these datasets.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Research question: does VNIR multispectral input improve waste-material classification compared with RGB, and for which materials?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Annotations: Alari 2024  ·  imagery: WorldView-3, Pléiades Neo (VNIR + pan)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Materials: which are considered and why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47572"/>
          <a:ext cx="832104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2286000"/>
                <a:gridCol w="219456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Classification target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Spectral analysis (RGB vs VNIR)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Rubble / inert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frequent; grey, confusable in RGB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Plastic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same colour as other bright surfaces in RGB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Wood and firewood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confusable with soil and vegetation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Tires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dark target, low contrast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Asbestos-cement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yes, dedicated pilot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public regional ground truth (WFS)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Vehicles, tanks, containers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shape-based, RGB sufficient in literature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Scrap, bulky items, big bags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shape-based, few spectral cues expected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Sludge, foundry waste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few labels; visually ambiguous at this GSD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13 categories, same taxonomy as Alari 2024. All remain classification targets; the band ablation focuses on the ambiguous subset.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Literature search: method and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Scripted queries on the Scopus API, two query sets: waste detection in remote sensing; asbestos roof mapping.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After deduplication: 699 unique records (622 waste, 77 asbestos).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Screening criteria: task pertinence (terrestrial waste or roof materials), GSD compatible with the task, recency and citations, peer review. Snowballing from the Fraternali 2024 survey and from the Alari 2024 thesis references.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Result: a curated library of 47 papers with structured notes, synchronised with the team Excel. 13 works are cited in this deck.</a:t>
            </a:r>
          </a:p>
        </p:txBody>
      </p:sp>
      <p:pic>
        <p:nvPicPr>
          <p:cNvPr id="4" name="Picture 3" descr="sear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47" y="3063240"/>
            <a:ext cx="5757705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Search artifacts: papers/literature_search (queries, raw and deduplicated records)  ·  library: papers/notes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Related work: site-level waste detection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421892"/>
          <a:ext cx="8321039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691640"/>
                <a:gridCol w="1325880"/>
                <a:gridCol w="178308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Work (year)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Input / GSD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Gibellini 2025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aerial RGB, 20 cm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Swin-T, RSP pretraining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F1 92.0; cross-region -5.1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Disaitek 2024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Pléiades Neo, 30 cm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operational service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~95% on sites &gt;2 m2 (vendor)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CascadeDumpNet 2024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Pléiades, 50 cm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object detection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two-stage CNN + AutoML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mAP 84.6, cross-city transfer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Sun 2023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VHR RGB, 0.3-1 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object detection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BCA-Net (Faster R-CNN)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~2,500 dumpsites, 28 cities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CWLD 2024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GF-2 + GE, 0.5-0.8 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segmentation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DeepLabV3+ variant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F1 88.9, construction waste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AerialWaste, Torres 2023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aerial RGB, 20-50 cm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dataset + cls.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ResNet-FPN baseline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F1 80.7; 22 material tags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All RGB. They answer where a site is, not what it contains. Disaitek is a vendor figure.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Related work: material-level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632204"/>
          <a:ext cx="8321039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691640"/>
                <a:gridCol w="1325880"/>
                <a:gridCol w="178308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Work (year)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Input / GSD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Alari 2024 (PoliMi)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satellite RGB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multi-label cls.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ResNet / Swin + FPN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wF1 69.2 (5 cat.), 59.4 (10 cat.)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Saba 2026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WV-3 VNIR, 1.24 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pixel cls.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Fine-KNN (32 tested)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asbestos, Macro-F1 97.6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Bonifazi 2026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WV-3 VNIR+SWIR, 1.24/3.7 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pixel cls.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max likelihood, temporal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asbestos roofs, removal tracking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Abbasi 2024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aerial RGB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OBIA cls.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DenseNet + LSTM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asbestos, OA ~96 (shape + time)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Cilia 2015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airborne HSI, 3 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pixel cls.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SAM + weathering index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asbestos, PA 89 / UA 86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One multi-material predecessor (Alari, group thesis). The rest is asbestos only. Saba and Abbasi: paywalled or preprint.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Where RGB falls short, and what VNIR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352044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Different materials share the same colour at 0.3-1.3 m: plastic sheets, asbestos-cement and concrete all appear grey.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In the group predecessor, moving from 5 to 10 material categories costs 9.8 F1 points (69.2 to 59.4). Finer material distinctions are the hard part.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Red Edge and NIR separate vegetation, bare soil and weathered surfaces; in Saba 2026 they drive asbestos discrimination.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Whether this helps waste materials, and which ones, has not been measured. It is the object of this thesis.</a:t>
            </a:r>
          </a:p>
        </p:txBody>
      </p:sp>
      <p:pic>
        <p:nvPicPr>
          <p:cNvPr id="4" name="Picture 3" descr="vnir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95360"/>
            <a:ext cx="4709160" cy="2324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Reflectance: USGS splib07a (Kokaly et al. 2017), 400-1050 nm. Band centres: Maxar, Airbus.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Available imagery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769364"/>
          <a:ext cx="83210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71800"/>
                <a:gridCol w="297180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WorldView-3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Pléiades Neo</a:t>
                      </a:r>
                    </a:p>
                  </a:txBody>
                  <a:tcPr anchor="ctr" marL="54864" marR="45720" marT="18288" marB="18288">
                    <a:solidFill>
                      <a:srgbClr val="DDDD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Multispectral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8 VNIR bands, 1.24 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6 VNIR bands, 1.2 m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Panchromatic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0.31 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0.30 m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Extra bands vs RGB+NIR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Coastal, Yellow, Red Edge, NIR2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Deep Blue, Red Edge</a:t>
                      </a:r>
                    </a:p>
                  </a:txBody>
                  <a:tcPr anchor="ctr" marL="54864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commercial / ESA proposal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commercial / ESA proposal</a:t>
                      </a:r>
                    </a:p>
                  </a:txBody>
                  <a:tcPr anchor="ctr" marL="54864" marR="45720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794760"/>
            <a:ext cx="8321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Both sensors are sub-metre with pan-sharpening and carry VNIR beyond RGB. This is the band budget of the study: no SWIR, no Sentinel-2.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Specs: Maxar WorldView-3, Airbus Pléiades Neo. Reference RGB baseline data: AerialWaste (20-50 cm).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What is missing in the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1.  Multi-material classification has one direct precedent, with ample margin: wF1 59-69 (Alari 2024).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2.  No work measures the added value of VNIR bands over RGB for waste materials at very high resolution.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3.  Results are reported as aggregate scores; per-material behaviour is not analysed.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4.  Generalisation across regions is rarely evaluated. At site level it costs 5 F1 points (Gibellini 2025).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5.  Asbestos is studied on roofs, in isolation, and never inside a waste-material taxonomy.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Each gap maps to one element of the proposal on the next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Proposed work: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Technique: multi-label image classification, continuing the group line (Gibellini 2025, Alari 2024).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Backbone: Swin-T with remote-sensing pretraining, the current group baseline. Extra VNIR bands enter by extending the input layer of the pretrained network.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Data: AerialWaste with the Alari material annotations as RGB baseline; WorldView-3 / Pléiades Neo acquisitions for the multispectral arm; Lombardy WFS asbestos registry (10,903 roofs) as ground truth for a controlled pilot.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Band ablation: RGB, then RGB + NIR, then full VNIR. Same architecture, same splits, only the input changes.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Asbestos pilot first: public labels, single material, clear VNIR evidence in literature. It validates the pipeline before the full taxonomy.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Continuity: same task and taxonomy as Alari 2024, extended from RGB to VNIR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Proposed work: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Per-material F1 alongside weighted and macro averages. Aggregates hide exactly the classes this thesis targets.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Delta versus the RGB baseline for each band configuration, with confidence intervals over repeated runs.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Generalisation protocol: train and test on disjoint geographic areas, in addition to the standard split.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Reference points: wF1 69.2 / 59.4 (Alari 2024) for the multi-label task; Macro-F1 97.6 (Saba 2026, per-pixel) as upper reference for the asbestos pilot, not directly comparable.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Outcome either way: if VNIR does not help a material, that is a documented negative result with practical value for sensor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Metrics: per-class F1, macro-F1, weighted F1, confusion matrices. Splits frozen before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520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Alari 2024. Fighting environmental crime with deep learning: classifying waste materials from illegal landfills in satellite imagery. M.Sc. thesis, PoliMi, 10589/230633.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Fraternali et al. 2024. Solid waste detection, monitoring and mapping in remote sensing images: a survey. arXiv:2402.09066.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Gibellini et al. 2025. A deep learning pipeline for solid waste detection in remote sensing images. Waste Management Bulletin.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Torres, Fraternali 2023. AerialWaste: a dataset for illegal landfill discovery in aerial images. Scientific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Zhang, Ma 2024. CascadeDumpNet. Remote Sensing of Environment.  ·  Sun et al. 2023. Nature Communications 14.  ·  CWLD 2024. Scientific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Saba et al. 2026. J. Hazardous Materials.  ·  Bonifazi et al. 2026. Geomatics.  ·  Abbasi et al. 2024. RSASE.  ·  Cilia et al. 2015. ISPRS IJGI.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Kokaly et al. 2017. USGS Spectral Library v7 (splib07a). USGS Data Series 1035.  ·  Disaitek 2024, vendor report (Airbus).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Full annotated library: 47 papers, papers/INDEX.md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7914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