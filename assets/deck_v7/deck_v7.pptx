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Calibri"/>
              </a:rPr>
              <a:t>Classification of waste materials in very-high-resolution satellite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803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1">
                <a:solidFill>
                  <a:srgbClr val="666666"/>
                </a:solidFill>
                <a:latin typeface="Calibri"/>
              </a:rPr>
              <a:t>State of the art and thesis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Alessandro Potenza  ·  M.Sc. Computer Science and Engineering, AI  ·  PERIVALLON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8321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Illegal waste dumping is an environmental crime with direct public-health consequences. Agencies (ARPA) have limited inspection capacity, and priority depends on what is dumped: rubble, plastics and asbestos-cement imply very different hazards.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Detecting dump sites from images is mature. Recognising the material is not: the reference survey (50 works, 1987-2023, almost all RGB) marks it as an open problem.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One thesis in the group has addressed material classification directly (Alari 2024). This work starts from there.</a:t>
            </a:r>
          </a:p>
        </p:txBody>
      </p:sp>
      <p:pic>
        <p:nvPicPr>
          <p:cNvPr id="4" name="Picture 3" descr="torre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36" y="2697480"/>
            <a:ext cx="6992728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Images: AerialWaste positive examples, Torres and Fraternali 2023 (CC BY 4.0)  ·  survey: Fraternali et al.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Task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68680"/>
            <a:ext cx="8321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Task: multi-label classification of waste materials in satellite images, at image level.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Input: VHR optical imagery, GSD 0.2 to 1.3 m (aerial RGB baseline; satellite VNIR arm, up to 8 bands). SWIR excluded: not in the planned acquisitions, and its 3.7 m GSD does not match the task. Sentinel-2 excluded: too coarse.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Technique: classification, not detection or segmentation. Annotations are image-level (Alari 2024: 11,477 multi-label); waste piles have no stable shape for boxes; no masks exist.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Research question: does VNIR input improve waste-material classification over RGB, and for which materials?</a:t>
            </a:r>
          </a:p>
        </p:txBody>
      </p:sp>
      <p:pic>
        <p:nvPicPr>
          <p:cNvPr id="4" name="Picture 3" descr="task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309" y="2926080"/>
            <a:ext cx="5427382" cy="1783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Annotations: Alari 2024  ·  imagery: WorldView-3, Pléiades Neo (VNIR + pan)  ·  tile: Alari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Materials: which are considered and why</a:t>
            </a:r>
          </a:p>
        </p:txBody>
      </p:sp>
      <p:pic>
        <p:nvPicPr>
          <p:cNvPr id="3" name="Picture 2" descr="alari_ro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41" y="868680"/>
            <a:ext cx="6553717" cy="151790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487168"/>
          <a:ext cx="8321040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68680"/>
                <a:gridCol w="1691640"/>
                <a:gridCol w="2651760"/>
              </a:tblGrid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Spectral analysis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Rubble, plastic, wood, tires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frequent and confusable in RGB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Asbestos-cement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yes, dedicated pilot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public regional ground truth (WFS)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Vehicles, tanks, containers, scrap, bulky, big bags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shape-based; RGB sufficient in literature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Sludge, foundry waste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few labels; visually ambiguous at this GSD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13 categories, taxonomy and samples from Alari 2024 (politesi 10589/230633). Band ablation focuses on the ambiguous subset.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Literature search: method and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6012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Scripted queries on the Scopus API (waste detection in remote sensing; asbestos roof mapping), deduplication, manual screening with explicit criteria, snowballing from the Fraternali 2024 survey and the Alari 2024 references.</a:t>
            </a:r>
          </a:p>
        </p:txBody>
      </p:sp>
      <p:pic>
        <p:nvPicPr>
          <p:cNvPr id="4" name="Picture 3" descr="searc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0928"/>
            <a:ext cx="8138160" cy="22617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Search artifacts: papers/literature_search (queries, raw and deduplicated records)  ·  library: papers/notes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Related work: site-level waste detection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421892"/>
          <a:ext cx="8321039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691640"/>
                <a:gridCol w="1325880"/>
                <a:gridCol w="1783080"/>
                <a:gridCol w="1645920"/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Work (year)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Input / GSD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Gibellini 2025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aerial RGB, 20 cm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Swin-T, RSP pretraining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F1 92.0; cross-region -5.1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Disaitek 2024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Pléiades Neo, 30 cm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operational service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~95% on sites &gt;2 m2 (vendor)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CascadeDumpNet 2024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Pléiades, 50 cm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object detection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two-stage CNN + AutoML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mAP 84.6, cross-city transfer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Sun 2023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VHR RGB, 0.3-1 m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object detection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BCA-Net (Faster R-CNN)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~2,500 dumpsites, 28 cities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CWLD 2024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GF-2 + GE, 0.5-0.8 m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DeepLabV3+ variant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F1 88.9, construction waste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AerialWaste, Torres 2023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aerial RGB, 20-50 cm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dataset + cls.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ResNet-FPN baseline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F1 80.7; 22 material tags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All RGB. They answer where a site is, not what it contains. Disaitek is a vendor figure.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Related work: material-level classification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463040"/>
                <a:gridCol w="1188720"/>
                <a:gridCol w="1554480"/>
              </a:tblGrid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Work (year)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Input / GSD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 marL="45720" marR="36576" marT="18288" marB="18288">
                    <a:solidFill>
                      <a:srgbClr val="DDDDD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Alari 2024 (PoliMi)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satellite RGB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multi-label cls.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wF1 69.2 (5 cat.), 59.4 (10 cat.)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Saba 2026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WV-3 VNIR, 1.24 m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pixel cls.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asbestos, Macro-F1 97.6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Bonifazi 2026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WV-3 VNIR+SWIR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pixel cls.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asbestos roofs, removal tracking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Abbasi 2024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aerial RGB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OBIA cls.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asbestos, OA ~96 (shape + time)</a:t>
                      </a:r>
                    </a:p>
                  </a:txBody>
                  <a:tcPr anchor="ctr" marL="45720" marR="36576" marT="18288" marB="18288"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Cilia 2015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airborne HSI, 3 m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pixel cls.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Calibri"/>
                        </a:rPr>
                        <a:t>asbestos, PA 89 / UA 86</a:t>
                      </a:r>
                    </a:p>
                  </a:txBody>
                  <a:tcPr anchor="ctr" marL="45720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bonifazi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80875"/>
            <a:ext cx="2331720" cy="21874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03320"/>
            <a:ext cx="5806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One multi-material predecessor (Alari). The rest is asbestos only. Right: building-level asbestos classification on WorldView-3 (Bonifazi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Saba and Abbasi: paywalled or preprint  ·  image: Bonifazi et al. 2026, Geomatics (CC BY 4.0)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Where RGB falls short, and what VNIR 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352044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Different materials share the same colour at 0.3-1.3 m: plastic sheets, asbestos-cement and concrete all appear grey.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 the group predecessor, moving from 5 to 10 material categories costs 9.8 F1 points (69.2 to 59.4). Finer material distinctions are the hard part.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Red Edge and NIR separate vegetation, bare soil and weathered surfaces; in Saba 2026 they drive asbestos discrimination.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Whether this helps waste materials, and which ones, has not been measured. It is the object of this thesis.</a:t>
            </a:r>
          </a:p>
        </p:txBody>
      </p:sp>
      <p:pic>
        <p:nvPicPr>
          <p:cNvPr id="4" name="Picture 3" descr="vnir_sign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695360"/>
            <a:ext cx="4709160" cy="2324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Reflectance: USGS splib07a (Kokaly et al. 2017), 400-1050 nm. Band centres: Maxar, Airbus.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Available imagery</a:t>
            </a:r>
          </a:p>
        </p:txBody>
      </p:sp>
      <p:pic>
        <p:nvPicPr>
          <p:cNvPr id="3" name="Picture 2" descr="band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951" y="960120"/>
            <a:ext cx="6644097" cy="260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703320"/>
            <a:ext cx="8321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Panchromatic: 0.31 m (WorldView-3), 0.30 m (Pléiades Neo). Access: commercial, or free quota via ESA proposal.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This is the band budget of the study: no SWIR, no Sentinel-2. RGB baseline runs on AerialWaste (20-50 cm).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Band ranges: Maxar WorldView-3, Airbus Pléiades Neo data sheets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What is missing in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520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1.  Multi-material classification has one direct precedent, with ample margin: wF1 59-69 (Alari 2024).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2.  No work measures the added value of VNIR bands over RGB for waste materials at very high resolution.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3.  Results are reported as aggregate scores; per-material behaviour is not analysed.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4.  Generalisation across regions is rarely evaluated. At site level it costs 5 F1 points (Gibellini 2025).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5.  Asbestos is studied on roofs, in isolation, and never inside a waste-material taxonomy.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Each gap maps to one element of the proposal on the next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Proposed work: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68680"/>
            <a:ext cx="8321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Multi-label image classification, continuing the group line (Gibellini 2025, Alari 2024). Same taxonomy, input extended from RGB to VNIR.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Band ablation with everything else fixed: same architecture, same splits, only the input changes. Asbestos pilot first: public labels, one material, clear VNIR evidence.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467" y="2148840"/>
            <a:ext cx="662906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Backbone: Swin-T with remote-sensing pretraining (group baseline); extra bands enter via the input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Proposed work: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429768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Per-material F1 alongside weighted and macro averages: aggregates hide exactly the classes this thesis targets.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Delta versus the RGB baseline for each band configuration, with confidence intervals over repeated runs.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Generalisation: train and test on disjoint geographic areas, besides the standard split.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Reference points: wF1 69.2 / 59.4 (Alari 2024); Macro-F1 97.6 (Saba 2026, per-pixel) as upper reference for the pilot, not directly comparable.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If VNIR does not help a material, that is a documented negative result with practical value for sensor choice.</a:t>
            </a:r>
          </a:p>
        </p:txBody>
      </p:sp>
      <p:pic>
        <p:nvPicPr>
          <p:cNvPr id="4" name="Picture 3" descr="eval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33755"/>
            <a:ext cx="3886200" cy="18188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Metrics: per-class F1, macro-F1, weighted F1, confusion matrices. Splits frozen before testing.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520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Alari 2024. Fighting environmental crime with deep learning: classifying waste materials from illegal landfills in satellite imagery. M.Sc. thesis, PoliMi, 10589/230633.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Fraternali et al. 2024. Solid waste detection, monitoring and mapping in remote sensing images: a survey. arXiv:2402.09066.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Gibellini et al. 2025. A deep learning pipeline for solid waste detection in remote sensing images. Waste Management Bulletin.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Torres, Fraternali 2023. AerialWaste: a dataset for illegal landfill discovery in aerial images. Scientific Data.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Zhang, Ma 2024. CascadeDumpNet. Remote Sensing of Environment.  ·  Sun et al. 2023. Nature Communications 14.  ·  CWLD 2024. Scientific Data.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Saba et al. 2026. J. Hazardous Materials.  ·  Bonifazi et al. 2026. Geomatics.  ·  Abbasi et al. 2024. RSASE.  ·  Cilia et al. 2015. ISPRS IJGI.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Kokaly et al. 2017. USGS Spectral Library v7 (splib07a). USGS Data Series 1035.  ·  Disaitek 2024, vendor report (Airbus).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809744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66666"/>
                </a:solidFill>
                <a:latin typeface="Calibri"/>
              </a:rPr>
              <a:t>Full annotated library: 47 papers, papers/INDEX.md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809744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